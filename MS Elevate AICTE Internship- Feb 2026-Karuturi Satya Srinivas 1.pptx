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31C45-9AEA-4DB9-9408-51AA06D052DF}" v="5" dt="2026-03-12T13:13:23.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107" d="100"/>
          <a:sy n="107" d="100"/>
        </p:scale>
        <p:origin x="102" y="13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12-03-2026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395798" y="3739889"/>
            <a:ext cx="6275060"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US" sz="1600" cap="all" dirty="0"/>
              <a:t>Karuturi satya srinivas</a:t>
            </a:r>
          </a:p>
          <a:p>
            <a:pPr algn="l">
              <a:spcAft>
                <a:spcPts val="600"/>
              </a:spcAft>
            </a:pPr>
            <a:r>
              <a:rPr lang="en-US" sz="1600" b="1" cap="all" dirty="0"/>
              <a:t>College Name: </a:t>
            </a:r>
            <a:r>
              <a:rPr lang="en-US" sz="1600" cap="all" dirty="0"/>
              <a:t>Chalapathi institute of technology</a:t>
            </a:r>
          </a:p>
          <a:p>
            <a:pPr algn="l">
              <a:spcAft>
                <a:spcPts val="600"/>
              </a:spcAft>
            </a:pPr>
            <a:r>
              <a:rPr lang="en-US" sz="1600" b="1" cap="all" dirty="0"/>
              <a:t>Department: </a:t>
            </a:r>
            <a:r>
              <a:rPr lang="en-US" sz="1600" cap="all" dirty="0"/>
              <a:t>electronics and communication  engineering</a:t>
            </a:r>
          </a:p>
          <a:p>
            <a:pPr algn="l">
              <a:spcAft>
                <a:spcPts val="600"/>
              </a:spcAft>
            </a:pPr>
            <a:r>
              <a:rPr lang="en-US" sz="1600" b="1" cap="all" dirty="0"/>
              <a:t>Email ID: </a:t>
            </a:r>
            <a:r>
              <a:rPr lang="en-US" sz="1600" cap="all" dirty="0">
                <a:ea typeface="+mn-lt"/>
                <a:cs typeface="+mn-lt"/>
              </a:rPr>
              <a:t>satyasrinivaskaruturi@gmail.com</a:t>
            </a:r>
            <a:endParaRPr lang="en-US" sz="1600" b="1" cap="all" dirty="0">
              <a:ea typeface="+mn-lt"/>
              <a:cs typeface="+mn-lt"/>
            </a:endParaRP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dirty="0">
                <a:latin typeface="Calibri"/>
                <a:ea typeface="Calibri"/>
                <a:cs typeface="Calibri"/>
              </a:rPr>
              <a:t>Digital payment systems are rapidly increasing in India.</a:t>
            </a:r>
          </a:p>
          <a:p>
            <a:pPr>
              <a:lnSpc>
                <a:spcPct val="100000"/>
              </a:lnSpc>
              <a:spcBef>
                <a:spcPct val="20000"/>
              </a:spcBef>
              <a:buFont typeface="Arial"/>
              <a:buChar char="•"/>
            </a:pPr>
            <a:r>
              <a:rPr lang="en-US" sz="3200" dirty="0">
                <a:latin typeface="Calibri"/>
                <a:ea typeface="Calibri"/>
                <a:cs typeface="Calibri"/>
              </a:rPr>
              <a:t>Organizations need tools to analyze </a:t>
            </a:r>
            <a:r>
              <a:rPr lang="en-US" sz="3200">
                <a:latin typeface="Calibri"/>
                <a:ea typeface="Calibri"/>
                <a:cs typeface="Calibri"/>
              </a:rPr>
              <a:t>digital payment</a:t>
            </a:r>
            <a:r>
              <a:rPr lang="en-US" sz="3200" dirty="0">
                <a:latin typeface="Calibri"/>
                <a:ea typeface="Calibri"/>
                <a:cs typeface="Calibri"/>
              </a:rPr>
              <a:t> usage trends.</a:t>
            </a:r>
          </a:p>
          <a:p>
            <a:pPr>
              <a:lnSpc>
                <a:spcPct val="100000"/>
              </a:lnSpc>
              <a:spcBef>
                <a:spcPct val="20000"/>
              </a:spcBef>
              <a:buFont typeface="Arial"/>
              <a:buChar char="•"/>
            </a:pPr>
            <a:r>
              <a:rPr lang="en-US" sz="3200" dirty="0">
                <a:latin typeface="Calibri"/>
                <a:ea typeface="Calibri"/>
                <a:cs typeface="Calibri"/>
              </a:rPr>
              <a:t>Understanding transaction patterns helps improve financial planning.</a:t>
            </a:r>
          </a:p>
          <a:p>
            <a:pPr>
              <a:lnSpc>
                <a:spcPct val="100000"/>
              </a:lnSpc>
              <a:spcBef>
                <a:spcPct val="20000"/>
              </a:spcBef>
              <a:buFont typeface="Arial"/>
              <a:buChar char="•"/>
            </a:pPr>
            <a:r>
              <a:rPr lang="en-US" sz="3200" dirty="0">
                <a:latin typeface="Calibri"/>
                <a:ea typeface="Calibri"/>
                <a:cs typeface="Calibri"/>
              </a:rPr>
              <a:t>Data visualization helps identify transaction growth and patterns.</a:t>
            </a:r>
          </a:p>
          <a:p>
            <a:pPr marL="0" indent="0">
              <a:buNone/>
            </a:pPr>
            <a:endParaRPr lang="en-IN" sz="2200" dirty="0">
              <a:latin typeface="Franklin Gothic Book"/>
            </a:endParaRP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IN" sz="1200" b="1" dirty="0">
                <a:latin typeface="Calibri"/>
                <a:ea typeface="Calibri"/>
                <a:cs typeface="Calibri"/>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Collection:</a:t>
            </a:r>
            <a:endParaRPr lang="en-IN" sz="120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In this project, the data was collected from a digital payment transaction dataset containing records from </a:t>
            </a:r>
            <a:r>
              <a:rPr lang="en-IN" sz="1200" b="1" dirty="0">
                <a:ea typeface="+mn-lt"/>
                <a:cs typeface="+mn-lt"/>
              </a:rPr>
              <a:t>2017 to 2022</a:t>
            </a:r>
            <a:r>
              <a:rPr lang="en-IN" sz="1200" dirty="0">
                <a:ea typeface="+mn-lt"/>
                <a:cs typeface="+mn-lt"/>
              </a:rPr>
              <a:t>. The dataset includes information about different digital payment methods such as </a:t>
            </a:r>
            <a:r>
              <a:rPr lang="en-IN" sz="1200" b="1" dirty="0">
                <a:ea typeface="+mn-lt"/>
                <a:cs typeface="+mn-lt"/>
              </a:rPr>
              <a:t>Debit Card transactions and BHIM transactions</a:t>
            </a:r>
            <a:r>
              <a:rPr lang="en-IN" sz="1200" dirty="0">
                <a:ea typeface="+mn-lt"/>
                <a:cs typeface="+mn-lt"/>
              </a:rPr>
              <a:t>.</a:t>
            </a:r>
            <a:endParaRPr lang="en-IN" sz="1200" b="1"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preprocessing steps performed: Handling Missing Values, Data Cleaning, Data Formatting, Data Aggregation, Feature Selection.</a:t>
            </a:r>
            <a:endParaRPr lang="en-IN" sz="1200" b="1"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Machine Learning Algorithm:</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latin typeface="Calibri"/>
                <a:ea typeface="Calibri"/>
                <a:cs typeface="Calibri"/>
              </a:rPr>
              <a:t>Implement a machine learning algorithm, such as a time-series Digital transactions tracking model (e.g., ARIMA, SARIMA, or LSTM), to predict Debit card and BHIM Transactions counts based on historical patterns.</a:t>
            </a:r>
          </a:p>
          <a:p>
            <a:pPr marL="305435" indent="-305435">
              <a:spcBef>
                <a:spcPct val="20000"/>
              </a:spcBef>
              <a:spcAft>
                <a:spcPts val="600"/>
              </a:spcAft>
              <a:buFont typeface="Arial"/>
              <a:buChar char="•"/>
            </a:pPr>
            <a:r>
              <a:rPr lang="en-IN" sz="1200" b="1" dirty="0">
                <a:latin typeface="Calibri"/>
                <a:ea typeface="Calibri"/>
                <a:cs typeface="Calibri"/>
              </a:rPr>
              <a:t>Deployment: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The solution was deployed using </a:t>
            </a:r>
            <a:r>
              <a:rPr lang="en-IN" sz="1200" b="1" dirty="0">
                <a:ea typeface="+mn-lt"/>
                <a:cs typeface="+mn-lt"/>
              </a:rPr>
              <a:t>Microsoft Power BI</a:t>
            </a:r>
            <a:r>
              <a:rPr lang="en-IN" sz="1200" dirty="0">
                <a:ea typeface="+mn-lt"/>
                <a:cs typeface="+mn-lt"/>
              </a:rPr>
              <a:t>, which provides an interactive and user-friendly dashboard.</a:t>
            </a:r>
            <a:endParaRPr lang="en-IN" sz="1200" dirty="0">
              <a:latin typeface="Aptos"/>
              <a:ea typeface="Calibri"/>
              <a:cs typeface="Calibri"/>
            </a:endParaRPr>
          </a:p>
          <a:p>
            <a:pPr marL="629920" lvl="1" indent="-305435">
              <a:spcBef>
                <a:spcPct val="20000"/>
              </a:spcBef>
              <a:spcAft>
                <a:spcPts val="600"/>
              </a:spcAft>
              <a:buFont typeface="Arial"/>
              <a:buChar char="•"/>
            </a:pPr>
            <a:r>
              <a:rPr lang="en-IN" sz="1200" dirty="0">
                <a:ea typeface="+mn-lt"/>
                <a:cs typeface="+mn-lt"/>
              </a:rPr>
              <a:t>The dashboard includes Key Performance Indicators, Monthly transaction analysis, Yearly transaction trends, Debit card and BHIM transaction comparisons</a:t>
            </a:r>
            <a:endParaRPr lang="en-IN" sz="1200" dirty="0">
              <a:latin typeface="Aptos"/>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The effectiveness of the system is evaluated based on how clearly the dashboard presents insights from the dataset.</a:t>
            </a:r>
            <a:endParaRPr lang="en-IN" dirty="0">
              <a:ea typeface="+mn-lt"/>
              <a:cs typeface="+mn-lt"/>
            </a:endParaRPr>
          </a:p>
          <a:p>
            <a:pPr marL="629920" lvl="1" indent="-305435">
              <a:spcBef>
                <a:spcPct val="20000"/>
              </a:spcBef>
              <a:spcAft>
                <a:spcPts val="600"/>
              </a:spcAft>
              <a:buFont typeface="Arial"/>
              <a:buChar char="•"/>
            </a:pPr>
            <a:r>
              <a:rPr lang="en-IN" sz="1200" dirty="0">
                <a:ea typeface="+mn-lt"/>
                <a:cs typeface="+mn-lt"/>
              </a:rPr>
              <a:t>Evaluation criteria include: Accuracy of processed data, Clarity of visualizations, Ability to identify transaction trends, User interaction with dashboard filters and charts</a:t>
            </a:r>
            <a:endParaRPr lang="en-IN" dirty="0">
              <a:ea typeface="Calibri"/>
              <a:cs typeface="Calibri"/>
            </a:endParaRPr>
          </a:p>
          <a:p>
            <a:pPr marL="629920" lvl="1" indent="-305435">
              <a:spcBef>
                <a:spcPct val="20000"/>
              </a:spcBef>
              <a:spcAft>
                <a:spcPts val="600"/>
              </a:spcAft>
              <a:buFont typeface="Arial"/>
              <a:buChar char="•"/>
            </a:pPr>
            <a:r>
              <a:rPr lang="en-IN" sz="1200" b="1" dirty="0">
                <a:latin typeface="Franklin Gothic Book"/>
                <a:ea typeface="Calibri"/>
                <a:cs typeface="Calibri"/>
              </a:rPr>
              <a:t>Result:</a:t>
            </a:r>
            <a:endParaRPr lang="en-IN" dirty="0">
              <a:latin typeface="Aptos" panose="02110004020202020204"/>
              <a:ea typeface="Calibri"/>
              <a:cs typeface="Calibri"/>
            </a:endParaRPr>
          </a:p>
          <a:p>
            <a:pPr marL="629920" lvl="1" indent="-305435">
              <a:spcBef>
                <a:spcPct val="20000"/>
              </a:spcBef>
              <a:spcAft>
                <a:spcPts val="600"/>
              </a:spcAft>
              <a:buFont typeface="Arial"/>
              <a:buChar char="•"/>
            </a:pPr>
            <a:r>
              <a:rPr lang="en-IN" sz="1200" b="1" dirty="0">
                <a:latin typeface="Franklin Gothic Book"/>
                <a:ea typeface="Calibri"/>
                <a:cs typeface="Calibri"/>
              </a:rPr>
              <a:t>          </a:t>
            </a:r>
            <a:r>
              <a:rPr lang="en-IN" sz="1200" dirty="0">
                <a:ea typeface="+mn-lt"/>
                <a:cs typeface="+mn-lt"/>
              </a:rPr>
              <a:t>The developed dashboard provides a comprehensive analysis of digital payment transactions in India.</a:t>
            </a:r>
            <a:endParaRPr lang="en-IN">
              <a:ea typeface="Calibri"/>
              <a:cs typeface="Calibri"/>
            </a:endParaRPr>
          </a:p>
          <a:p>
            <a:pPr marL="324485" lvl="1" indent="0">
              <a:spcBef>
                <a:spcPct val="20000"/>
              </a:spcBef>
              <a:spcAft>
                <a:spcPts val="600"/>
              </a:spcAft>
              <a:buNone/>
            </a:pPr>
            <a:endParaRPr lang="en-IN" sz="1200" b="1" dirty="0">
              <a:latin typeface="Franklin Gothic Book"/>
              <a:ea typeface="Calibri"/>
              <a:cs typeface="Calibri"/>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dirty="0">
                <a:latin typeface="Calibri"/>
                <a:ea typeface="Calibri"/>
                <a:cs typeface="Calibri"/>
              </a:rPr>
              <a:t>Dataset contains digital payment transactions from 2017 to 2022.</a:t>
            </a:r>
          </a:p>
          <a:p>
            <a:pPr>
              <a:lnSpc>
                <a:spcPct val="100000"/>
              </a:lnSpc>
              <a:spcBef>
                <a:spcPct val="20000"/>
              </a:spcBef>
              <a:buFont typeface="Arial"/>
              <a:buChar char="•"/>
            </a:pPr>
            <a:r>
              <a:rPr lang="en-US" sz="3200" dirty="0">
                <a:latin typeface="Calibri"/>
                <a:ea typeface="Calibri"/>
                <a:cs typeface="Calibri"/>
              </a:rPr>
              <a:t>Visualization tool used: Microsoft Power BI.</a:t>
            </a:r>
          </a:p>
          <a:p>
            <a:pPr>
              <a:lnSpc>
                <a:spcPct val="100000"/>
              </a:lnSpc>
              <a:spcBef>
                <a:spcPct val="20000"/>
              </a:spcBef>
              <a:buFont typeface="Arial"/>
              <a:buChar char="•"/>
            </a:pPr>
            <a:r>
              <a:rPr lang="en-US" sz="3200" dirty="0">
                <a:latin typeface="Calibri"/>
                <a:ea typeface="Calibri"/>
                <a:cs typeface="Calibri"/>
              </a:rPr>
              <a:t>Dashboard includes KPI cards, donut charts, line charts and bar charts.</a:t>
            </a:r>
          </a:p>
          <a:p>
            <a:pPr>
              <a:lnSpc>
                <a:spcPct val="100000"/>
              </a:lnSpc>
              <a:spcBef>
                <a:spcPct val="20000"/>
              </a:spcBef>
              <a:buFont typeface="Arial"/>
              <a:buChar char="•"/>
            </a:pPr>
            <a:r>
              <a:rPr lang="en-US" sz="3200" dirty="0">
                <a:latin typeface="Calibri"/>
                <a:ea typeface="Calibri"/>
                <a:cs typeface="Calibri"/>
              </a:rPr>
              <a:t>Data is transformed and analyzed before visualization.</a:t>
            </a:r>
          </a:p>
          <a:p>
            <a:pPr marL="0" indent="0">
              <a:spcBef>
                <a:spcPct val="20000"/>
              </a:spcBef>
              <a:spcAft>
                <a:spcPts val="600"/>
              </a:spcAft>
              <a:buNone/>
            </a:pPr>
            <a:endParaRPr lang="en-IN" sz="2200" b="1" dirty="0">
              <a:latin typeface="Franklin Gothic Book"/>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chor="t">
            <a:normAutofit/>
          </a:bodyPr>
          <a:lstStyle/>
          <a:p>
            <a:pPr marL="0" indent="0">
              <a:spcBef>
                <a:spcPct val="20000"/>
              </a:spcBef>
              <a:spcAft>
                <a:spcPts val="600"/>
              </a:spcAft>
              <a:buNone/>
            </a:pP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Algorithm Selection:</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A </a:t>
            </a:r>
            <a:r>
              <a:rPr lang="en-IN" sz="1500" b="1" dirty="0">
                <a:ea typeface="+mn-lt"/>
                <a:cs typeface="+mn-lt"/>
              </a:rPr>
              <a:t>time-series forecasting algorithm</a:t>
            </a:r>
            <a:r>
              <a:rPr lang="en-IN" sz="1500" dirty="0">
                <a:ea typeface="+mn-lt"/>
                <a:cs typeface="+mn-lt"/>
              </a:rPr>
              <a:t> such as ARIMA, SARIMA, or LSTM is used to </a:t>
            </a:r>
            <a:r>
              <a:rPr lang="en-IN" sz="1500" dirty="0" err="1">
                <a:ea typeface="+mn-lt"/>
                <a:cs typeface="+mn-lt"/>
              </a:rPr>
              <a:t>analyze</a:t>
            </a:r>
            <a:r>
              <a:rPr lang="en-IN" sz="1500" dirty="0">
                <a:ea typeface="+mn-lt"/>
                <a:cs typeface="+mn-lt"/>
              </a:rPr>
              <a:t> historical transaction data and identify patterns over time.</a:t>
            </a: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Data Input:</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The model uses historical data including </a:t>
            </a:r>
            <a:r>
              <a:rPr lang="en-IN" sz="1500" b="1" dirty="0">
                <a:ea typeface="+mn-lt"/>
                <a:cs typeface="+mn-lt"/>
              </a:rPr>
              <a:t>year, month, digital transactions, debit card transactions, and BHIM transactions</a:t>
            </a:r>
            <a:r>
              <a:rPr lang="en-IN" sz="1500" dirty="0">
                <a:ea typeface="+mn-lt"/>
                <a:cs typeface="+mn-lt"/>
              </a:rPr>
              <a:t>.</a:t>
            </a: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Training Process:</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The historical dataset is divided into </a:t>
            </a:r>
            <a:r>
              <a:rPr lang="en-IN" sz="1500" b="1" dirty="0">
                <a:ea typeface="+mn-lt"/>
                <a:cs typeface="+mn-lt"/>
              </a:rPr>
              <a:t>training and testing data</a:t>
            </a:r>
            <a:r>
              <a:rPr lang="en-IN" sz="1500" dirty="0">
                <a:ea typeface="+mn-lt"/>
                <a:cs typeface="+mn-lt"/>
              </a:rPr>
              <a:t>. The algorithm learns patterns such as </a:t>
            </a:r>
            <a:r>
              <a:rPr lang="en-IN" sz="1500" b="1" dirty="0">
                <a:ea typeface="+mn-lt"/>
                <a:cs typeface="+mn-lt"/>
              </a:rPr>
              <a:t>trends and seasonal variations</a:t>
            </a:r>
            <a:r>
              <a:rPr lang="en-IN" sz="1500" dirty="0">
                <a:ea typeface="+mn-lt"/>
                <a:cs typeface="+mn-lt"/>
              </a:rPr>
              <a:t> from past transactions.</a:t>
            </a: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Prediction Process:</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After training, the model predicts </a:t>
            </a:r>
            <a:r>
              <a:rPr lang="en-IN" sz="1500" b="1" dirty="0">
                <a:ea typeface="+mn-lt"/>
                <a:cs typeface="+mn-lt"/>
              </a:rPr>
              <a:t>future transaction trends</a:t>
            </a:r>
            <a:r>
              <a:rPr lang="en-IN" sz="1500" dirty="0">
                <a:ea typeface="+mn-lt"/>
                <a:cs typeface="+mn-lt"/>
              </a:rPr>
              <a:t> based on learned patterns from historical data.</a:t>
            </a:r>
            <a:endParaRPr lang="en-IN" sz="1500" dirty="0">
              <a:latin typeface="Franklin Gothic Book"/>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4" name="Content Placeholder 3" descr="A screenshot of a computer screen&#10;&#10;AI-generated content may be incorrect.">
            <a:extLst>
              <a:ext uri="{FF2B5EF4-FFF2-40B4-BE49-F238E27FC236}">
                <a16:creationId xmlns:a16="http://schemas.microsoft.com/office/drawing/2014/main" id="{A9F9537E-6464-3914-8FE2-8D10BAEDD2BF}"/>
              </a:ext>
            </a:extLst>
          </p:cNvPr>
          <p:cNvPicPr>
            <a:picLocks noGrp="1" noChangeAspect="1"/>
          </p:cNvPicPr>
          <p:nvPr>
            <p:ph idx="1"/>
          </p:nvPr>
        </p:nvPicPr>
        <p:blipFill>
          <a:blip r:embed="rId2"/>
          <a:stretch>
            <a:fillRect/>
          </a:stretch>
        </p:blipFill>
        <p:spPr>
          <a:xfrm>
            <a:off x="2102239" y="1265842"/>
            <a:ext cx="6297283" cy="3608896"/>
          </a:xfrm>
        </p:spPr>
      </p:pic>
      <p:pic>
        <p:nvPicPr>
          <p:cNvPr id="3" name="Picture 2" descr="A screenshot of a data analysis dashboard&#10;&#10;AI-generated content may be incorrect.">
            <a:extLst>
              <a:ext uri="{FF2B5EF4-FFF2-40B4-BE49-F238E27FC236}">
                <a16:creationId xmlns:a16="http://schemas.microsoft.com/office/drawing/2014/main" id="{60E9846D-1AE9-7C1A-E2DA-909E07C7A460}"/>
              </a:ext>
            </a:extLst>
          </p:cNvPr>
          <p:cNvPicPr>
            <a:picLocks noChangeAspect="1"/>
          </p:cNvPicPr>
          <p:nvPr/>
        </p:nvPicPr>
        <p:blipFill>
          <a:blip r:embed="rId3"/>
          <a:stretch>
            <a:fillRect/>
          </a:stretch>
        </p:blipFill>
        <p:spPr>
          <a:xfrm>
            <a:off x="1671835" y="1137780"/>
            <a:ext cx="9652082" cy="5438384"/>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dirty="0">
                <a:latin typeface="Calibri"/>
                <a:ea typeface="Calibri"/>
                <a:cs typeface="Calibri"/>
              </a:rPr>
              <a:t>Digital payments have increased significantly in India.</a:t>
            </a:r>
          </a:p>
          <a:p>
            <a:pPr>
              <a:lnSpc>
                <a:spcPct val="100000"/>
              </a:lnSpc>
              <a:spcBef>
                <a:spcPct val="20000"/>
              </a:spcBef>
              <a:buFont typeface="Arial"/>
              <a:buChar char="•"/>
            </a:pPr>
            <a:r>
              <a:rPr lang="en-US" sz="3200" dirty="0">
                <a:latin typeface="Calibri"/>
                <a:ea typeface="Calibri"/>
                <a:cs typeface="Calibri"/>
              </a:rPr>
              <a:t>Power BI helps transform raw data into meaningful insights.</a:t>
            </a:r>
          </a:p>
          <a:p>
            <a:pPr>
              <a:lnSpc>
                <a:spcPct val="100000"/>
              </a:lnSpc>
              <a:spcBef>
                <a:spcPct val="20000"/>
              </a:spcBef>
              <a:buFont typeface="Arial"/>
              <a:buChar char="•"/>
            </a:pPr>
            <a:r>
              <a:rPr lang="en-US" sz="3200" dirty="0">
                <a:latin typeface="Calibri"/>
                <a:ea typeface="Calibri"/>
                <a:cs typeface="Calibri"/>
              </a:rPr>
              <a:t>Data analytics supports better financial decision making.</a:t>
            </a:r>
            <a:endParaRPr lang="en-IN" dirty="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a:latin typeface="Calibri"/>
                <a:ea typeface="Calibri"/>
                <a:cs typeface="Calibri"/>
              </a:rPr>
              <a:t>Integrate real-time payment data sources.</a:t>
            </a:r>
          </a:p>
          <a:p>
            <a:pPr>
              <a:lnSpc>
                <a:spcPct val="100000"/>
              </a:lnSpc>
              <a:spcBef>
                <a:spcPct val="20000"/>
              </a:spcBef>
              <a:buFont typeface="Arial"/>
              <a:buChar char="•"/>
            </a:pPr>
            <a:r>
              <a:rPr lang="en-US" sz="3200" dirty="0">
                <a:latin typeface="Calibri"/>
                <a:ea typeface="Calibri"/>
                <a:cs typeface="Calibri"/>
              </a:rPr>
              <a:t>Apply machine learning for transaction forecasting.</a:t>
            </a:r>
          </a:p>
          <a:p>
            <a:pPr>
              <a:lnSpc>
                <a:spcPct val="100000"/>
              </a:lnSpc>
              <a:spcBef>
                <a:spcPct val="20000"/>
              </a:spcBef>
              <a:buFont typeface="Arial"/>
              <a:buChar char="•"/>
            </a:pPr>
            <a:r>
              <a:rPr lang="en-US" sz="3200" dirty="0">
                <a:latin typeface="Calibri"/>
                <a:ea typeface="Calibri"/>
                <a:cs typeface="Calibri"/>
              </a:rPr>
              <a:t>Expand analysis to other countries.</a:t>
            </a:r>
          </a:p>
          <a:p>
            <a:pPr>
              <a:lnSpc>
                <a:spcPct val="100000"/>
              </a:lnSpc>
              <a:spcBef>
                <a:spcPct val="20000"/>
              </a:spcBef>
              <a:buFont typeface="Arial"/>
              <a:buChar char="•"/>
            </a:pPr>
            <a:r>
              <a:rPr lang="en-US" sz="3200" dirty="0">
                <a:latin typeface="Calibri"/>
                <a:ea typeface="Calibri"/>
                <a:cs typeface="Calibri"/>
              </a:rPr>
              <a:t>Create advanced interactive dashboards.</a:t>
            </a:r>
            <a:endParaRPr lang="en-US" dirty="0"/>
          </a:p>
          <a:p>
            <a:pPr marL="0" indent="0">
              <a:buNone/>
            </a:pPr>
            <a:endParaRPr lang="en-GB" sz="220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dirty="0">
              <a:latin typeface="Aptos" panose="020B0004020202020204"/>
            </a:endParaRPr>
          </a:p>
          <a:p>
            <a:pPr marL="0" indent="0">
              <a:buNone/>
            </a:pPr>
            <a:r>
              <a:rPr lang="en-IN" sz="2200">
                <a:latin typeface="Franklin Gothic Book"/>
              </a:rPr>
              <a:t>GitHub Link:</a:t>
            </a:r>
            <a:r>
              <a:rPr lang="en-IN" sz="2200" dirty="0">
                <a:solidFill>
                  <a:srgbClr val="0070C0"/>
                </a:solidFill>
                <a:latin typeface="Franklin Gothic Book"/>
              </a:rPr>
              <a:t> </a:t>
            </a:r>
            <a:r>
              <a:rPr lang="en-IN" sz="2200" dirty="0">
                <a:solidFill>
                  <a:srgbClr val="0070C0"/>
                </a:solidFill>
                <a:ea typeface="+mn-lt"/>
                <a:cs typeface="+mn-lt"/>
              </a:rPr>
              <a:t>https://github.com/satyasrinivaskaruturi/MS_Elevate_AICTE-Internship_Karuturi-satya-srinivas.git</a:t>
            </a:r>
            <a:endParaRPr lang="en-IN" sz="2200" u="sng">
              <a:solidFill>
                <a:srgbClr val="0070C0"/>
              </a:solidFill>
              <a:latin typeface="Franklin Gothic Book"/>
            </a:endParaRPr>
          </a:p>
          <a:p>
            <a:pPr marL="0" indent="0">
              <a:buNone/>
            </a:pPr>
            <a:endParaRPr lang="en-IN" sz="2200" u="sng">
              <a:solidFill>
                <a:srgbClr val="0070C0"/>
              </a:solidFill>
              <a:latin typeface="Franklin Gothic Book"/>
            </a:endParaRPr>
          </a:p>
          <a:p>
            <a:pPr marL="0" indent="0">
              <a:buNone/>
            </a:pPr>
            <a:endParaRPr lang="en-IN" sz="220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696</Words>
  <Application>Microsoft Office PowerPoint</Application>
  <PresentationFormat>Widescreen</PresentationFormat>
  <Paragraphs>63</Paragraphs>
  <Slides>11</Slides>
  <Notes>2</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Vignesh M</cp:lastModifiedBy>
  <cp:revision>260</cp:revision>
  <dcterms:created xsi:type="dcterms:W3CDTF">2024-05-21T11:55:07Z</dcterms:created>
  <dcterms:modified xsi:type="dcterms:W3CDTF">2026-03-12T13:13:34Z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